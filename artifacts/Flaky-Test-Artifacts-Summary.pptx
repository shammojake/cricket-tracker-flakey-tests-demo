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8FA8C8"/>
                </a:solidFill>
                <a:latin typeface="Segoe UI"/>
              </a:rPr>
              <a:t>FLAKY-TEST RESEARCH ARTIFACTS  ·  EVALUATION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Three artifacts, one subject program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6C4D8"/>
                </a:solidFill>
                <a:latin typeface="Segoe UI"/>
              </a:rPr>
              <a:t>FlakyLens · FlakeSync · TSVD4J, run end-to-end against cricket-tracker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434840"/>
            <a:ext cx="1463040" cy="32004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8C8"/>
                </a:solidFill>
                <a:latin typeface="Segoe UI"/>
              </a:rPr>
              <a:t>797 tests · 46 labelled flaky · 6 categories · every result scored against a hand-written ground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86A6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OVERVIEW — THE SUBJECT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cricket-tracker: a program built to be flaky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A1F2B"/>
                </a:solidFill>
                <a:latin typeface="Segoe UI"/>
              </a:rPr>
              <a:t>A working ball-by-ball cricket scoring service — 54 classes, 6,689 lines, Java 11 / Maven / JUnit 4, no external runtime dependencies — with flaky tests deliberately planted where such bugs naturally occur.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2046975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41148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171779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F3A5F"/>
                </a:solidFill>
                <a:latin typeface="Segoe UI"/>
              </a:rPr>
              <a:t>797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tests in the 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9079" y="2331720"/>
            <a:ext cx="2046975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79079" y="2331720"/>
            <a:ext cx="41148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0247" y="2450591"/>
            <a:ext cx="171779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F3A5F"/>
                </a:solidFill>
                <a:latin typeface="Segoe UI"/>
              </a:rPr>
              <a:t>46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labelled flaky (5.8%)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2359" y="2331720"/>
            <a:ext cx="2046975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2359" y="2331720"/>
            <a:ext cx="41148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3527" y="2450591"/>
            <a:ext cx="171779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F3A5F"/>
                </a:solidFill>
                <a:latin typeface="Segoe UI"/>
              </a:rPr>
              <a:t>13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controls that must never fail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5639" y="2331720"/>
            <a:ext cx="2046975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5639" y="2331720"/>
            <a:ext cx="41148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807" y="2450591"/>
            <a:ext cx="171779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F3A5F"/>
                </a:solidFill>
                <a:latin typeface="Segoe UI"/>
              </a:rPr>
              <a:t>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flakiness categories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58919" y="2331720"/>
            <a:ext cx="2046975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58919" y="2331720"/>
            <a:ext cx="41148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0087" y="2450591"/>
            <a:ext cx="171779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F3A5F"/>
                </a:solidFill>
                <a:latin typeface="Segoe UI"/>
              </a:rPr>
              <a:t>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Maven modules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429000"/>
            <a:ext cx="10820095" cy="2834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479292"/>
            <a:ext cx="20177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9547" y="3479292"/>
            <a:ext cx="16931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8963" y="3479292"/>
            <a:ext cx="394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9967" y="3479292"/>
            <a:ext cx="612935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What it exercises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762755"/>
            <a:ext cx="20177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com.cricket.live / .api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9547" y="3762755"/>
            <a:ext cx="16931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Async wait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8963" y="3762755"/>
            <a:ext cx="394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9967" y="3762755"/>
            <a:ext cx="612935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sleep instead of awaitIdle() on the ingest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995927"/>
            <a:ext cx="10820095" cy="2834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046219"/>
            <a:ext cx="20177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com.cricket.adversarial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9547" y="4046219"/>
            <a:ext cx="16931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Async wait (hidden)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8963" y="4046219"/>
            <a:ext cx="394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9967" y="4046219"/>
            <a:ext cx="612935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every wait hidden behind a domain helper — day.drinks()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4329683"/>
            <a:ext cx="20177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com.cricket.concurrent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59547" y="4329683"/>
            <a:ext cx="16931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Concurrency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8963" y="4329683"/>
            <a:ext cx="394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9967" y="4329683"/>
            <a:ext cx="612935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unsynchronised shared state under a worker pool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562855"/>
            <a:ext cx="10820095" cy="2834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4613147"/>
            <a:ext cx="20177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com.cricket.od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59547" y="4613147"/>
            <a:ext cx="16931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Order dependency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8963" y="4613147"/>
            <a:ext cx="394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9967" y="4613147"/>
            <a:ext cx="612935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9 victims / 3 brittles across 5 static state channels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" y="4896611"/>
            <a:ext cx="20177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com.cricket.time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59547" y="4896611"/>
            <a:ext cx="16931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8963" y="4896611"/>
            <a:ext cx="394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9967" y="4896611"/>
            <a:ext cx="612935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wall-clock budget assertions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5129783"/>
            <a:ext cx="10820095" cy="2834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8" y="5180075"/>
            <a:ext cx="20177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com.cricket.uc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59547" y="5180075"/>
            <a:ext cx="16931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Unordered collections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98963" y="5180075"/>
            <a:ext cx="394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9967" y="5180075"/>
            <a:ext cx="612935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iteration order of thread-spread accumulation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5623560"/>
            <a:ext cx="10820095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" y="5623560"/>
            <a:ext cx="41148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5742432"/>
            <a:ext cx="10408615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A1F2B"/>
                </a:solidFill>
                <a:latin typeface="Segoe UI"/>
              </a:rPr>
              <a:t>artifacts/flaky-labels.json is the ground truth</a:t>
            </a:r>
            <a:r>
              <a:rPr sz="1300" b="1">
                <a:solidFill>
                  <a:srgbClr val="1F3A5F"/>
                </a:solidFill>
                <a:latin typeface="Segoe UI"/>
              </a:rPr>
              <a:t> — every flaky test with its category, measured failure rate, and what each artifact is expected to report. All scoring below is against it.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cricket-tracker — README.md / OVERVIEW.md / artifacts/flaky-labels.json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OVERVIEW — THE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One laptop, no GPU, mixed shells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5486400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333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1833372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What we ran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625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" y="2162556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AMD Ryzen 5 7520U — 4 cores / 8 threads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41448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4917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2491740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14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8209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2" y="2820924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AMD Radeon 610M — no NVIDIA, no CUDA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099815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1501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1992" y="3150108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Windows 11 Home, 10.0.26200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47929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JDK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2" y="3479291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Temurin 11.0.32+9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758183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80847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Maven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1992" y="3808475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3.9.16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1376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2" y="4137659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27.5.1, WSL2 engine (FlakyLens only)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2"/>
            <a:ext cx="548640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4668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21992" y="4466844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3.13.4 on host; 3.8.5 + torch 2.3.1+cpu in the container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783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What the hardware cost 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21284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No CUDA.</a:t>
            </a:r>
            <a:r>
              <a:rPr sz="1300" b="0">
                <a:solidFill>
                  <a:srgbClr val="1A1F2B"/>
                </a:solidFill>
                <a:latin typeface="Segoe UI"/>
              </a:rPr>
              <a:t>  FlakyLens hardcodes torch.device("cuda") — patched to auto-detect, then validated by re-running the paper's own fold.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4 cores.</a:t>
            </a:r>
            <a:r>
              <a:rPr sz="1300" b="0">
                <a:solidFill>
                  <a:srgbClr val="1A1F2B"/>
                </a:solidFill>
                <a:latin typeface="Segoe UI"/>
              </a:rPr>
              <a:t>  TSVD4J injects a 100 ms delay at every tracked access; the full run took 7 h 24 m.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Windows host.</a:t>
            </a:r>
            <a:r>
              <a:rPr sz="1300" b="0">
                <a:solidFill>
                  <a:srgbClr val="1A1F2B"/>
                </a:solidFill>
                <a:latin typeface="Segoe UI"/>
              </a:rPr>
              <a:t>  Artifact scripts are bash and assume POSIX; CRLF line endings broke both patch(1) and the container's shell scripts.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623560"/>
            <a:ext cx="10820095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623560"/>
            <a:ext cx="41148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" y="5742432"/>
            <a:ext cx="10408615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A1F2B"/>
                </a:solidFill>
                <a:latin typeface="Segoe UI"/>
              </a:rPr>
              <a:t>Everything below ran on this one machine.</a:t>
            </a:r>
            <a:r>
              <a:rPr sz="1300" b="1">
                <a:solidFill>
                  <a:srgbClr val="1F3A5F"/>
                </a:solidFill>
                <a:latin typeface="Segoe UI"/>
              </a:rPr>
              <a:t> Nothing was moved to a cluster or a GPU box — the ports and workarounds exist because of the row above.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Machine profile — verified via Win32 CIM + the three runbooks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B2D5C"/>
                </a:solidFill>
                <a:latin typeface="Segoe UI"/>
              </a:rPr>
              <a:t>SECTION 1 — FLAKYLENS (OOPSLA'25)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How we ran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Fine-tuned CodeBERT that reads one test method and predicts its flakiness category: async wait, concurrency, time, unordered collections, order dependency, or non-flaky.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2D5C"/>
                </a:solidFill>
                <a:latin typeface="Segoe UI"/>
              </a:rPr>
              <a:t>Corpus, container, inference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51760"/>
            <a:ext cx="5212080" cy="13350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807208"/>
            <a:ext cx="480060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F2B"/>
                </a:solidFill>
                <a:latin typeface="Consolas"/>
              </a:rPr>
              <a:t>python tools/extract_tests.py --out artifacts/tests.json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F2B"/>
                </a:solidFill>
                <a:latin typeface="Consolas"/>
              </a:rPr>
              <a:t>python tools/to_flakylens_csv.py    # -&gt; test_set_1.csv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F2B"/>
                </a:solidFill>
                <a:latin typeface="Consolas"/>
              </a:rPr>
              <a:t>docker build -t flakylens:latest 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F2B"/>
                </a:solidFill>
                <a:latin typeface="Consolas"/>
              </a:rPr>
              <a:t>docker run ... bash /app/run-cricket-tracker.sh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6B2D5C"/>
                </a:solidFill>
                <a:latin typeface="Segoe UI"/>
              </a:rPr>
              <a:t>Inference only.</a:t>
            </a:r>
            <a:r>
              <a:rPr sz="1300" b="0">
                <a:solidFill>
                  <a:srgbClr val="1A1F2B"/>
                </a:solidFill>
                <a:latin typeface="Segoe UI"/>
              </a:rPr>
              <a:t>  fold-1 checkpoint, model.eval() under no_grad. 19 min for 797 tests on CPU.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6B2D5C"/>
                </a:solidFill>
                <a:latin typeface="Segoe UI"/>
              </a:rPr>
              <a:t>Two runs.</a:t>
            </a:r>
            <a:r>
              <a:rPr sz="1300" b="0">
                <a:solidFill>
                  <a:srgbClr val="1A1F2B"/>
                </a:solidFill>
                <a:latin typeface="Segoe UI"/>
              </a:rPr>
              <a:t>  run A = the corpus as our converter emits it; run B = the same corpus with one newline appended per test, nothing else changed.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6B2D5C"/>
                </a:solidFill>
                <a:latin typeface="Segoe UI"/>
              </a:rPr>
              <a:t>Control first.</a:t>
            </a:r>
            <a:r>
              <a:rPr sz="1300" b="0">
                <a:solidFill>
                  <a:srgbClr val="1A1F2B"/>
                </a:solidFill>
                <a:latin typeface="Segoe UI"/>
              </a:rPr>
              <a:t>  the paper's own test_set_1.csv through the same patched pipeline, to prove the port did not change the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6771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2D5C"/>
                </a:solidFill>
                <a:latin typeface="Segoe UI"/>
              </a:rPr>
              <a:t>Nine changes to get it running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651760"/>
            <a:ext cx="4983480" cy="329184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702052"/>
            <a:ext cx="2594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8602" y="2702052"/>
            <a:ext cx="209626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031236"/>
            <a:ext cx="2594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utils.py — device auto-detect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8602" y="3031236"/>
            <a:ext cx="209626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no NVIDIA GPU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3310127"/>
            <a:ext cx="498348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3360420"/>
            <a:ext cx="2594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torch.load map_location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8602" y="3360420"/>
            <a:ext cx="209626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GPU-saved checkpoints on 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89603"/>
            <a:ext cx="2594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Dockerfile — conda-forge, CPU torch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8602" y="3689603"/>
            <a:ext cx="209626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conda ToS gate; 2.5 GB of CUDA wheels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968496"/>
            <a:ext cx="498348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4018787"/>
            <a:ext cx="2594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.dockerignore, LF line endings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8602" y="4018787"/>
            <a:ext cx="209626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2 GB build context; bash rejects \r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4347972"/>
            <a:ext cx="2594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attribution guard in Testing_*.py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8602" y="4347972"/>
            <a:ext cx="209626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per-test rows were silently dropped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626864"/>
            <a:ext cx="4983480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4677156"/>
            <a:ext cx="2594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to_flakylens_csv / analyze_flakylens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8602" y="4677156"/>
            <a:ext cx="209626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schemas differ; output has no test names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5074920"/>
            <a:ext cx="4983480" cy="960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5074920"/>
            <a:ext cx="41148" cy="96012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6" y="5193792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None of them alters a prediction</a:t>
            </a:r>
            <a:r>
              <a:rPr sz="1250" b="1">
                <a:solidFill>
                  <a:srgbClr val="6B2D5C"/>
                </a:solidFill>
                <a:latin typeface="Segoe UI"/>
              </a:rPr>
              <a:t> — verified twice: the device and checkpoint edits by the control run, the attribution guard by a byte-identical classification report before and after.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artifacts/FlakyLens/RUNNING-FLAKYLENS-ON-CRICKET-TRACKER.md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B2D5C"/>
                </a:solidFill>
                <a:latin typeface="Segoe UI"/>
              </a:rPr>
              <a:t>SECTION 1 — FLAKYLENS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2595295" cy="822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64208"/>
            <a:ext cx="41148" cy="82296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266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6B2D5C"/>
                </a:solidFill>
                <a:latin typeface="Segoe UI"/>
              </a:rPr>
              <a:t>0.033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run A accuracy — as written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7399" y="1664208"/>
            <a:ext cx="2595295" cy="822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7399" y="1664208"/>
            <a:ext cx="41148" cy="82296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8567" y="1783080"/>
            <a:ext cx="2266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6B2D5C"/>
                </a:solidFill>
                <a:latin typeface="Segoe UI"/>
              </a:rPr>
              <a:t>0.883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run B accuracy — + one newline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999" y="1664208"/>
            <a:ext cx="2595295" cy="822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8999" y="1664208"/>
            <a:ext cx="41148" cy="82296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1783080"/>
            <a:ext cx="2266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6B2D5C"/>
                </a:solidFill>
                <a:latin typeface="Segoe UI"/>
              </a:rPr>
              <a:t>714 / 797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predictions that moved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0599" y="1664208"/>
            <a:ext cx="2595295" cy="822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0599" y="1664208"/>
            <a:ext cx="41148" cy="82296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1767" y="1783080"/>
            <a:ext cx="2266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6B2D5C"/>
                </a:solidFill>
                <a:latin typeface="Segoe UI"/>
              </a:rPr>
              <a:t>19 min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per run, 797 tests on 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7432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2D5C"/>
                </a:solidFill>
                <a:latin typeface="Segoe UI"/>
              </a:rPr>
              <a:t>Tests classified correctly, by category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127248"/>
            <a:ext cx="5212080" cy="27432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177540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3084" y="3177540"/>
            <a:ext cx="6876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7017" y="3177540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Run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7312" y="3177540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Run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451860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async 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3084" y="3451860"/>
            <a:ext cx="6876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7017" y="3451860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7312" y="3451860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675887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372617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concurrency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3084" y="3726179"/>
            <a:ext cx="6876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7017" y="372617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7312" y="372617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400049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93084" y="4000499"/>
            <a:ext cx="6876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7017" y="400049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7312" y="400049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224527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27481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unordered collections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93084" y="4274819"/>
            <a:ext cx="6876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7017" y="427481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7312" y="427481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" y="454913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order dependency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93084" y="4549139"/>
            <a:ext cx="6876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7017" y="454913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7312" y="454913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773167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8" y="482345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non-flaky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93084" y="4823459"/>
            <a:ext cx="6876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751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7017" y="482345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17312" y="4823459"/>
            <a:ext cx="8439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687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5102352"/>
            <a:ext cx="521208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" y="5102352"/>
            <a:ext cx="41148" cy="100584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" y="5221224"/>
            <a:ext cx="4800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Async, concurrency and time recall is identical across the two runs</a:t>
            </a:r>
            <a:r>
              <a:rPr sz="1250" b="1">
                <a:solidFill>
                  <a:srgbClr val="6B2D5C"/>
                </a:solidFill>
                <a:latin typeface="Segoe UI"/>
              </a:rPr>
              <a:t> — the same 17 tests, by name. Only the categories with no token evidence move.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2743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2D5C"/>
                </a:solidFill>
                <a:latin typeface="Segoe UI"/>
              </a:rPr>
              <a:t>Everything the model predicted, by category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3127248"/>
            <a:ext cx="4983480" cy="27432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47688" y="3177540"/>
            <a:ext cx="1996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Predicted category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90584" y="3177540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Actual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37445" y="3177540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Run 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84306" y="3177540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Run 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47688" y="3451860"/>
            <a:ext cx="1996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async wait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90584" y="3451860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37445" y="3451860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82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84306" y="3451860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68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60" y="3675887"/>
            <a:ext cx="49834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47688" y="3726179"/>
            <a:ext cx="1996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concurrency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90584" y="372617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7445" y="372617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84306" y="372617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47688" y="4000499"/>
            <a:ext cx="1996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time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90584" y="400049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37445" y="400049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53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84306" y="400049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37960" y="4224527"/>
            <a:ext cx="49834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47688" y="4274819"/>
            <a:ext cx="1996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unordered collections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90584" y="427481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37445" y="427481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90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84306" y="427481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47688" y="4549139"/>
            <a:ext cx="1996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order dependency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90584" y="454913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37445" y="454913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563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84306" y="454913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60" y="4773167"/>
            <a:ext cx="49834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47688" y="4823459"/>
            <a:ext cx="19965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non-flaky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90584" y="482345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751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37445" y="482345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84306" y="4823459"/>
            <a:ext cx="8005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712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37960" y="5102352"/>
            <a:ext cx="498348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37960" y="5102352"/>
            <a:ext cx="41148" cy="100584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57416" y="5221224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Run A never predicts non-flaky</a:t>
            </a:r>
            <a:r>
              <a:rPr sz="1250" b="1">
                <a:solidFill>
                  <a:srgbClr val="B32D2D"/>
                </a:solidFill>
                <a:latin typeface="Segoe UI"/>
              </a:rPr>
              <a:t> and sends 563 of 797 tests — 71% of the suite — to order dependency, a class it predicts 0.4% of the time on the paper's own fold.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artifacts/FlakyLens/flakylens-results/ — cricket-tracker-fold1/ and cricket-tracker-fold1-newline/, joined-predictions.csv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B2D5C"/>
                </a:solidFill>
                <a:latin typeface="Segoe UI"/>
              </a:rPr>
              <a:t>SECTION 1 — FLAKYLENS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2D5C"/>
                </a:solidFill>
                <a:latin typeface="Segoe UI"/>
              </a:rPr>
              <a:t>A formatting label leak in the training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212080" cy="27432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53412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Feature of a training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4292" y="2153412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Flaky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950" y="2153412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Non-flaky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27732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ends with a newline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292" y="2427732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0950" y="2427732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100%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51759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702051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@Test at column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4292" y="270205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950" y="270205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976371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closing brace indented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292" y="297637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0.4%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950" y="297637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99.1%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00399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250691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contains a comment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4292" y="325069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0950" y="325069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29.3%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6916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2D5C"/>
                </a:solidFill>
                <a:latin typeface="Segoe UI"/>
              </a:rPr>
              <a:t>The probe — same code, different whitespace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103120"/>
            <a:ext cx="4983480" cy="274320"/>
          </a:xfrm>
          <a:prstGeom prst="rect">
            <a:avLst/>
          </a:prstGeom>
          <a:solidFill>
            <a:srgbClr val="6B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2153412"/>
            <a:ext cx="344180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Input (n = 40, content held byte-identical)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5793" y="2153412"/>
            <a:ext cx="124907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→ non-flaky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2427732"/>
            <a:ext cx="344180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cricket non-flaky, as written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5793" y="2427732"/>
            <a:ext cx="124907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0 / 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2651759"/>
            <a:ext cx="49834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2702051"/>
            <a:ext cx="344180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… + trailing newline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35793" y="2702051"/>
            <a:ext cx="124907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40 / 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2976371"/>
            <a:ext cx="344180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… + indent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35793" y="2976371"/>
            <a:ext cx="124907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40 / 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3200399"/>
            <a:ext cx="49834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3250691"/>
            <a:ext cx="344180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paper's genuinely flaky tests, reformatted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35793" y="3250691"/>
            <a:ext cx="124907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40 / 40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3657600"/>
            <a:ext cx="5212080" cy="1371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3657600"/>
            <a:ext cx="41148" cy="13716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" y="3776472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The trailing newline alone classifies 8,574 of 8,574 training rows correctly.</a:t>
            </a:r>
            <a:r>
              <a:rPr sz="1250" b="1">
                <a:solidFill>
                  <a:srgbClr val="B32D2D"/>
                </a:solidFill>
                <a:latin typeface="Segoe UI"/>
              </a:rPr>
              <a:t> All four checkpoints learned the shortcut, and focal loss with a 245× class weight removes the 96.6% non-flaky prior that would otherwise pull the prediction back.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6576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6B2D5C"/>
                </a:solidFill>
                <a:latin typeface="Segoe UI"/>
              </a:rPr>
              <a:t>Whitespace decides flaky vs non-flaky.</a:t>
            </a:r>
            <a:r>
              <a:rPr sz="1250" b="0">
                <a:solidFill>
                  <a:srgbClr val="1A1F2B"/>
                </a:solidFill>
                <a:latin typeface="Segoe UI"/>
              </a:rPr>
              <a:t>  so any flaky/non-flaky number from this model is suspect — including the published 0.99 headline.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6B2D5C"/>
                </a:solidFill>
                <a:latin typeface="Segoe UI"/>
              </a:rPr>
              <a:t>Run A's best class was an artifact.</a:t>
            </a:r>
            <a:r>
              <a:rPr sz="1250" b="0">
                <a:solidFill>
                  <a:srgbClr val="1A1F2B"/>
                </a:solidFill>
                <a:latin typeface="Segoe UI"/>
              </a:rPr>
              <a:t>  order dependency scored 75% recall in A and 0% in B; those 9 "detections" were the same no-evidence fallback that also claimed 541 non-flaky tests.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6B2D5C"/>
                </a:solidFill>
                <a:latin typeface="Segoe UI"/>
              </a:rPr>
              <a:t>Tokens decide the category.</a:t>
            </a:r>
            <a:r>
              <a:rPr sz="1250" b="0">
                <a:solidFill>
                  <a:srgbClr val="1A1F2B"/>
                </a:solidFill>
                <a:latin typeface="Segoe UI"/>
              </a:rPr>
              <a:t>  12/12 correct on the async tests that say sleep/await/latch; 0/8 on the adversarial tests with the same bug behind day.drinks() — all 8 called non-flaky.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6B2D5C"/>
                </a:solidFill>
                <a:latin typeface="Segoe UI"/>
              </a:rPr>
              <a:t>And in reverse.</a:t>
            </a:r>
            <a:r>
              <a:rPr sz="1250" b="0">
                <a:solidFill>
                  <a:srgbClr val="1A1F2B"/>
                </a:solidFill>
                <a:latin typeface="Segoe UI"/>
              </a:rPr>
              <a:t>  4 deterministic decoys stuffed with concurrency words: 4/4 called flaky, against a 6.8% base rate.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artifacts/FlakyLens/flakylens-results/FlakyLens_Results.md §4, §5, §7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6E6E"/>
                </a:solidFill>
                <a:latin typeface="Segoe UI"/>
              </a:rPr>
              <a:t>SECTION 2 — FLAKESYNC (ICSE'24)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How we ran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Six stateful Maven goals that locate what an async-wait test is racing against, then emit a patch inserting a barrier so the assertion cannot run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6E6E"/>
                </a:solidFill>
                <a:latin typeface="Segoe UI"/>
              </a:rPr>
              <a:t>Six goals, in order, one test at a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51760"/>
            <a:ext cx="5212080" cy="184708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807208"/>
            <a:ext cx="4800600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>T='com.cricket.live.LiveScoreIngestTest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>   #scorecardReflectsAllBallsAfterIngest'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>P=edu.utexas.ece:flakesync-maven-plugin:1.0-SNAPSHOT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>mvn $P:concurrentfind -Dflakesync.testName=$T 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>    -pl cricket-live      # then the other 5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80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F6E6E"/>
                </a:solidFill>
                <a:latin typeface="Segoe UI"/>
              </a:rPr>
              <a:t>Order matters.</a:t>
            </a:r>
            <a:r>
              <a:rPr sz="1300" b="0">
                <a:solidFill>
                  <a:srgbClr val="1A1F2B"/>
                </a:solidFill>
                <a:latin typeface="Segoe UI"/>
              </a:rPr>
              <a:t>  each goal reads the previous one's output file, so none can be skipped.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0F6E6E"/>
                </a:solidFill>
                <a:latin typeface="Segoe UI"/>
              </a:rPr>
              <a:t>Budget.</a:t>
            </a:r>
            <a:r>
              <a:rPr sz="1300" b="0">
                <a:solidFill>
                  <a:srgbClr val="1A1F2B"/>
                </a:solidFill>
                <a:latin typeface="Segoe UI"/>
              </a:rPr>
              <a:t>  the paper reports a median of 58.77 minutes per test; delaylocs and deltadebug dominate.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6771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6E6E"/>
                </a:solidFill>
                <a:latin typeface="Segoe UI"/>
              </a:rPr>
              <a:t>Target selection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651760"/>
            <a:ext cx="4983480" cy="310896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702052"/>
            <a:ext cx="294345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Test carrying a flakesync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7445" y="2702052"/>
            <a:ext cx="174741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012948"/>
            <a:ext cx="294345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2B"/>
                </a:solidFill>
                <a:latin typeface="Segoe UI"/>
              </a:rPr>
              <a:t>LiveScoreIngestTest#scorecardReflects…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7445" y="3012948"/>
            <a:ext cx="174741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1F2B"/>
                </a:solidFill>
                <a:latin typeface="Segoe UI"/>
              </a:rPr>
              <a:t>repairable — our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3273551"/>
            <a:ext cx="4983480" cy="31089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3323844"/>
            <a:ext cx="294345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BroadcastLatencyTest#everyBattingMile…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7445" y="3323844"/>
            <a:ext cx="174741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repairable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34739"/>
            <a:ext cx="294345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MatchTimingTest#theArchiveIsWritten…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7445" y="3634739"/>
            <a:ext cx="174741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not repairable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895344"/>
            <a:ext cx="4983480" cy="31089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945635"/>
            <a:ext cx="294345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MatchTimingTest#theOverlayKeepsUp…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7445" y="3945635"/>
            <a:ext cx="174741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not repairable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4251960"/>
            <a:ext cx="4983480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4251960"/>
            <a:ext cx="41148" cy="118872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57416" y="4370832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We ran the primary target</a:t>
            </a:r>
            <a:r>
              <a:rPr sz="1250" b="1">
                <a:solidFill>
                  <a:srgbClr val="0F6E6E"/>
                </a:solidFill>
                <a:latin typeface="Segoe UI"/>
              </a:rPr>
              <a:t>, written to mirror Figure 1 of the paper. Ground truth for it: critical point ScorecardUpdater.onBall (final statement), barrier in LiveScoreIngestTest before the assertEquals.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artifacts/FlakeSync/RUNNING_FLAKESYNC.md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6E6E"/>
                </a:solidFill>
                <a:latin typeface="Segoe UI"/>
              </a:rPr>
              <a:t>SECTION 2 — FLAKESYNC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3509162" cy="822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64208"/>
            <a:ext cx="41148" cy="8229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0F6E6E"/>
                </a:solidFill>
                <a:latin typeface="Segoe UI"/>
              </a:rPr>
              <a:t>8 m 18 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end-to-end, all six goals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1664208"/>
            <a:ext cx="3509162" cy="822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1266" y="1664208"/>
            <a:ext cx="41148" cy="8229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2434" y="1783080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0F6E6E"/>
                </a:solidFill>
                <a:latin typeface="Segoe UI"/>
              </a:rPr>
              <a:t>53 → 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locations after delta debugging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6732" y="1664208"/>
            <a:ext cx="3509162" cy="822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6732" y="1664208"/>
            <a:ext cx="41148" cy="8229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7900" y="1783080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0F6E6E"/>
                </a:solidFill>
                <a:latin typeface="Segoe UI"/>
              </a:rPr>
              <a:t>Repaired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test passes 50/50 once patched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6E6E"/>
                </a:solidFill>
                <a:latin typeface="Segoe UI"/>
              </a:rPr>
              <a:t>Goal by goal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127248"/>
            <a:ext cx="5212080" cy="27432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177540"/>
            <a:ext cx="162580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7635" y="3177540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0051" y="3177540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451860"/>
            <a:ext cx="162580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concurrentfind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7635" y="3451860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12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0051" y="3451860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90 concurrent methods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675887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726179"/>
            <a:ext cx="162580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delaylocs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7635" y="3726179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 m 46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0051" y="372617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53 locations; fails at delay 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000499"/>
            <a:ext cx="162580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deltadebug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7635" y="4000499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 m 52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0051" y="400049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minimised to WorkerPool#59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224527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274819"/>
            <a:ext cx="162580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critsearch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7635" y="4274819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2 m 36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0051" y="427481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root WorkerPool.beforeExecute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4549139"/>
            <a:ext cx="162580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barrierpointsearch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7635" y="4549139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 m 48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0051" y="454913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barrier at #105, threshold 240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773167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823459"/>
            <a:ext cx="162580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patch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7635" y="4823459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4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0051" y="4823459"/>
            <a:ext cx="22512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2 patch files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166360"/>
            <a:ext cx="52120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5166360"/>
            <a:ext cx="41148" cy="86868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" y="5285232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Fast because it never had to search.</a:t>
            </a:r>
            <a:r>
              <a:rPr sz="1250" b="1">
                <a:solidFill>
                  <a:srgbClr val="0F6E6E"/>
                </a:solidFill>
                <a:latin typeface="Segoe UI"/>
              </a:rPr>
              <a:t> delaylocs failed at the first delay value it tried and deltadebug collapsed 53 locations to one, so neither phase had to explore.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2743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6E6E"/>
                </a:solidFill>
                <a:latin typeface="Segoe UI"/>
              </a:rPr>
              <a:t>Against ground truth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3127248"/>
            <a:ext cx="4983480" cy="292608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7688" y="3177540"/>
            <a:ext cx="3142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Expectation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6784" y="3177540"/>
            <a:ext cx="154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Result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7688" y="3470148"/>
            <a:ext cx="3142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repairable: true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36784" y="3470148"/>
            <a:ext cx="154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3712463"/>
            <a:ext cx="4983480" cy="2926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47688" y="3762755"/>
            <a:ext cx="3142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barrier before the assertEquals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36784" y="3762755"/>
            <a:ext cx="154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yes — line 105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47688" y="4055363"/>
            <a:ext cx="3142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critical point = ScorecardUpdater.onBall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36784" y="4055363"/>
            <a:ext cx="154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no — WorkerPool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44805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6E6E"/>
                </a:solidFill>
                <a:latin typeface="Segoe UI"/>
              </a:rPr>
              <a:t>The emitted patch, actually run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60" y="4864608"/>
            <a:ext cx="4983480" cy="292608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47688" y="4914900"/>
            <a:ext cx="18470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914900"/>
            <a:ext cx="13487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isolated ×10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36124" y="4914900"/>
            <a:ext cx="13487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rerun ×50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47688" y="5207508"/>
            <a:ext cx="18470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before patch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80" y="5207508"/>
            <a:ext cx="13487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10 pass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36124" y="5207508"/>
            <a:ext cx="13487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0 fail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5449824"/>
            <a:ext cx="4983480" cy="2926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47688" y="5500116"/>
            <a:ext cx="18470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2B"/>
                </a:solidFill>
                <a:latin typeface="Segoe UI"/>
              </a:rPr>
              <a:t>patch as generated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41080" y="5500116"/>
            <a:ext cx="13487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2B"/>
                </a:solidFill>
                <a:latin typeface="Segoe UI"/>
              </a:rPr>
              <a:t>10 hang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6124" y="5500116"/>
            <a:ext cx="13487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2B"/>
                </a:solidFill>
                <a:latin typeface="Segoe UI"/>
              </a:rPr>
              <a:t>— hangs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5792724"/>
            <a:ext cx="18470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threshold corrected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1080" y="5792724"/>
            <a:ext cx="13487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10 pass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36124" y="5792724"/>
            <a:ext cx="13487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0 fail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artifacts/FlakeSync/FLAKESYNC_RESULT.md · cricket-live/.flakesync/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F6E6E"/>
                </a:solidFill>
                <a:latin typeface="Segoe UI"/>
              </a:rPr>
              <a:t>SECTION 2 — FLAKESYNC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6E6E"/>
                </a:solidFill>
                <a:latin typeface="Segoe UI"/>
              </a:rPr>
              <a:t>A correct barrier reached through a coarser cause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212080" cy="292608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53412"/>
            <a:ext cx="110459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6427" y="2153412"/>
            <a:ext cx="38148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What it produced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46020"/>
            <a:ext cx="110459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delaylocs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6427" y="2446020"/>
            <a:ext cx="3814876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ranked ScorecardUpdater#69 first — exactly the statement ground truth names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62656"/>
            <a:ext cx="52120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012948"/>
            <a:ext cx="110459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deltadebug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6427" y="3012948"/>
            <a:ext cx="3814876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minimised to WorkerPool#59, started.incrementAndGet() — the cheapest single choke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579876"/>
            <a:ext cx="110459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critsearch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6427" y="3579876"/>
            <a:ext cx="3814876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explored outward from that minimum, so it never revisited the listener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096511"/>
            <a:ext cx="52120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146803"/>
            <a:ext cx="110459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6427" y="4146803"/>
            <a:ext cx="3814876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F2B"/>
                </a:solidFill>
                <a:latin typeface="Segoe UI"/>
              </a:rPr>
              <a:t>a delay in beforeExecute stalls every task — the run threw an NPE, not the assertion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617720"/>
            <a:ext cx="52120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617720"/>
            <a:ext cx="41148" cy="868680"/>
          </a:xfrm>
          <a:prstGeom prst="rect">
            <a:avLst/>
          </a:prstGeom>
          <a:solidFill>
            <a:srgbClr val="B5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4736592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Minimality and explanatory value are not the same objective.</a:t>
            </a:r>
            <a:r>
              <a:rPr sz="1250" b="1">
                <a:solidFill>
                  <a:srgbClr val="B5720C"/>
                </a:solidFill>
                <a:latin typeface="Segoe UI"/>
              </a:rPr>
              <a:t> A global choke point will always win a minimisation race against the specific listener whose write the assertion actually reads.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6916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6E6E"/>
                </a:solidFill>
                <a:latin typeface="Segoe UI"/>
              </a:rPr>
              <a:t>The patch deadlocks as generated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103120"/>
            <a:ext cx="4983480" cy="13350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2258568"/>
            <a:ext cx="457200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>WorkerPool.resetExecutions();      // -&gt;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>pipeline.submitAll(...);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>while (WorkerPool.getExecutedStatus() &lt; 240)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F2B"/>
                </a:solidFill>
                <a:latin typeface="Consolas"/>
              </a:rPr>
              <a:t>    Thread.yield();                // never 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5204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6E6E"/>
                </a:solidFill>
                <a:latin typeface="Segoe UI"/>
              </a:rPr>
              <a:t>The threshold and the reset disagree.</a:t>
            </a:r>
            <a:r>
              <a:rPr sz="1250" b="0">
                <a:solidFill>
                  <a:srgbClr val="1A1F2B"/>
                </a:solidFill>
                <a:latin typeface="Segoe UI"/>
              </a:rPr>
              <a:t>  240 = 120 warm-up tasks + 120 from the test, but the counter is reset after the warm-up has already run, so only 120 can ever be counted.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6E6E"/>
                </a:solidFill>
                <a:latin typeface="Segoe UI"/>
              </a:rPr>
              <a:t>One integer fixes it.</a:t>
            </a:r>
            <a:r>
              <a:rPr sz="1250" b="0">
                <a:solidFill>
                  <a:srgbClr val="1A1F2B"/>
                </a:solidFill>
                <a:latin typeface="Segoe UI"/>
              </a:rPr>
              <a:t>  waiting on DELIVERIES makes the count test-local, so the repaired test behaves the same in isolation and in the full suite.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F6E6E"/>
                </a:solidFill>
                <a:latin typeface="Segoe UI"/>
              </a:rPr>
              <a:t>Evaluation warning.</a:t>
            </a:r>
            <a:r>
              <a:rPr sz="1250" b="0">
                <a:solidFill>
                  <a:srgbClr val="1A1F2B"/>
                </a:solidFill>
                <a:latin typeface="Segoe UI"/>
              </a:rPr>
              <a:t>  "did it emit a patch" scores this a success; running the patched test scores it a hang. One constant separates the two verdicts.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artifacts/FlakeSync/FLAKESYNC_RESULT.md §2, §3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SECTION 3 — TSVD4J (ICSE'23)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How we ran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A Java agent that injects a 100 ms delay at every tracked field and API access to force races into the open, and reports the conflicting pairs it observes.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Install the plugin, then run the reduced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51760"/>
            <a:ext cx="5212080" cy="13350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807208"/>
            <a:ext cx="480060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F2B"/>
                </a:solidFill>
                <a:latin typeface="Consolas"/>
              </a:rPr>
              <a:t>cd TSVD4J &amp;&amp; mvn clean install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F2B"/>
                </a:solidFill>
                <a:latin typeface="Consolas"/>
              </a:rPr>
              <a:t>cd ../cricket-tracker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F2B"/>
                </a:solidFill>
                <a:latin typeface="Consolas"/>
              </a:rPr>
              <a:t>mvn -Ptsvd4j $PLUGIN:tsvd4j -pl cricket-live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F2B"/>
                </a:solidFill>
                <a:latin typeface="Consolas"/>
              </a:rPr>
              <a:t>        # then cricket-stats, cricket-api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Scope.</a:t>
            </a:r>
            <a:r>
              <a:rPr sz="1300" b="0">
                <a:solidFill>
                  <a:srgbClr val="1A1F2B"/>
                </a:solidFill>
                <a:latin typeface="Segoe UI"/>
              </a:rPr>
              <a:t>  the -Ptsvd4j profile narrows Surefire to 6 classes / 29 tests across 3 modules; the full suite under a 100 ms delay per access would never finish.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Findings land in .tsvd4j/</a:t>
            </a:r>
            <a:r>
              <a:rPr sz="1300" b="0">
                <a:solidFill>
                  <a:srgbClr val="1A1F2B"/>
                </a:solidFill>
                <a:latin typeface="Segoe UI"/>
              </a:rPr>
              <a:t>  per module — an aggregate Conflicting-Pairs.txt plus one file per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6771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Four things worth knowing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8833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3A5F"/>
                </a:solidFill>
                <a:latin typeface="Segoe UI"/>
              </a:rPr>
              <a:t>The short goal prefix does not resolve.</a:t>
            </a:r>
            <a:r>
              <a:rPr sz="1250" b="0">
                <a:solidFill>
                  <a:srgbClr val="1A1F2B"/>
                </a:solidFill>
                <a:latin typeface="Segoe UI"/>
              </a:rPr>
              <a:t>  mvn tsvd4j:tsvd4j fails — edu.utexas.ece is in no pluginGroup, so fully-qualified coordinates are required.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3A5F"/>
                </a:solidFill>
                <a:latin typeface="Segoe UI"/>
              </a:rPr>
              <a:t>The profile does not wire the plugin in.</a:t>
            </a:r>
            <a:r>
              <a:rPr sz="1250" b="0">
                <a:solidFill>
                  <a:srgbClr val="1A1F2B"/>
                </a:solidFill>
                <a:latin typeface="Segoe UI"/>
              </a:rPr>
              <a:t>  it only narrows Surefire's &lt;includes&gt;; the plugin still resolves from ~/.m2.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3A5F"/>
                </a:solidFill>
                <a:latin typeface="Segoe UI"/>
              </a:rPr>
              <a:t>Conflicting-Pairs.txt is appended at each JVM shutdown.</a:t>
            </a:r>
            <a:r>
              <a:rPr sz="1250" b="0">
                <a:solidFill>
                  <a:srgbClr val="1A1F2B"/>
                </a:solidFill>
                <a:latin typeface="Segoe UI"/>
              </a:rPr>
              <a:t>  54 lines for 27 unique pairs — always sort -u.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3A5F"/>
                </a:solidFill>
                <a:latin typeface="Segoe UI"/>
              </a:rPr>
              <a:t>A missing file means zero findings, not a crash.</a:t>
            </a:r>
            <a:r>
              <a:rPr sz="1250" b="0">
                <a:solidFill>
                  <a:srgbClr val="1A1F2B"/>
                </a:solidFill>
                <a:latin typeface="Segoe UI"/>
              </a:rPr>
              <a:t>  cricket-stats and cricket-api produced only listener.log.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artifacts/TSVD4J/Running_TSVD4J.md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SECTION 3 — TSVD4J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2046975" cy="8046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64208"/>
            <a:ext cx="41148" cy="804672"/>
          </a:xfrm>
          <a:prstGeom prst="rect">
            <a:avLst/>
          </a:prstGeom>
          <a:solidFill>
            <a:srgbClr val="1E7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1717791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E7F53"/>
                </a:solidFill>
                <a:latin typeface="Segoe UI"/>
              </a:rPr>
              <a:t>6 / 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expected pairs found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9079" y="1664208"/>
            <a:ext cx="2046975" cy="8046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79079" y="1664208"/>
            <a:ext cx="41148" cy="804672"/>
          </a:xfrm>
          <a:prstGeom prst="rect">
            <a:avLst/>
          </a:prstGeom>
          <a:solidFill>
            <a:srgbClr val="1E7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0247" y="1783080"/>
            <a:ext cx="1717791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E7F53"/>
                </a:solidFill>
                <a:latin typeface="Segoe UI"/>
              </a:rPr>
              <a:t>0 / 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control false positives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2359" y="1664208"/>
            <a:ext cx="2046975" cy="8046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2359" y="1664208"/>
            <a:ext cx="41148" cy="804672"/>
          </a:xfrm>
          <a:prstGeom prst="rect">
            <a:avLst/>
          </a:prstGeom>
          <a:solidFill>
            <a:srgbClr val="1E7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3527" y="1783080"/>
            <a:ext cx="1717791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E7F53"/>
                </a:solidFill>
                <a:latin typeface="Segoe UI"/>
              </a:rPr>
              <a:t>27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unique conflicting pairs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5639" y="1664208"/>
            <a:ext cx="2046975" cy="8046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5639" y="1664208"/>
            <a:ext cx="41148" cy="804672"/>
          </a:xfrm>
          <a:prstGeom prst="rect">
            <a:avLst/>
          </a:prstGeom>
          <a:solidFill>
            <a:srgbClr val="1E7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6807" y="1783080"/>
            <a:ext cx="1717791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E7F53"/>
                </a:solidFill>
                <a:latin typeface="Segoe UI"/>
              </a:rPr>
              <a:t>1.65 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thread events tracked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58919" y="1664208"/>
            <a:ext cx="2046975" cy="8046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8919" y="1664208"/>
            <a:ext cx="41148" cy="804672"/>
          </a:xfrm>
          <a:prstGeom prst="rect">
            <a:avLst/>
          </a:prstGeom>
          <a:solidFill>
            <a:srgbClr val="1E7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0087" y="1783080"/>
            <a:ext cx="1717791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E7F53"/>
                </a:solidFill>
                <a:latin typeface="Segoe UI"/>
              </a:rPr>
              <a:t>7 h 24 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5"/>
                </a:solidFill>
                <a:latin typeface="Segoe UI"/>
              </a:rPr>
              <a:t>wall time, 29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97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The six pairs ground truth names — all reported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90672"/>
            <a:ext cx="5212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140964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Expected field /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140964"/>
            <a:ext cx="152156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Reported 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8225" y="3140964"/>
            <a:ext cx="131307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415284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ScoreCard.legalBalls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415284"/>
            <a:ext cx="152156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ScoreCard|89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8225" y="3415284"/>
            <a:ext cx="131307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legalBalls++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639311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3689603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ScoreCard.totalRuns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3689603"/>
            <a:ext cx="152156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ScoreCard|81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8225" y="3689603"/>
            <a:ext cx="131307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totalRuns += 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3963923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Innings.balls add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3963923"/>
            <a:ext cx="152156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Innings|add|136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8225" y="3963923"/>
            <a:ext cx="131307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balls.add(ball)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187951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4238243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MatchRegistry.matches 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238243"/>
            <a:ext cx="152156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MatchRegistry|put|35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8225" y="4238243"/>
            <a:ext cx="131307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matches.put(…)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4512563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MatchRegistry.registrations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512563"/>
            <a:ext cx="152156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MatchRegistry|36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8225" y="4512563"/>
            <a:ext cx="131307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registrations++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736591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4786883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LiveFeedBroadcaster.subscribers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4786883"/>
            <a:ext cx="152156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LiveFeed…|add|94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48225" y="4786883"/>
            <a:ext cx="131307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F2B"/>
                </a:solidFill>
                <a:latin typeface="Segoe UI"/>
              </a:rPr>
              <a:t>subscribers.add(…)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5120640"/>
            <a:ext cx="52120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" y="5120640"/>
            <a:ext cx="41148" cy="914400"/>
          </a:xfrm>
          <a:prstGeom prst="rect">
            <a:avLst/>
          </a:prstGeom>
          <a:solidFill>
            <a:srgbClr val="1E7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" y="5239512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Both designated controls stayed clean.</a:t>
            </a:r>
            <a:r>
              <a:rPr sz="1250" b="1">
                <a:solidFill>
                  <a:srgbClr val="1E7F53"/>
                </a:solidFill>
                <a:latin typeface="Segoe UI"/>
              </a:rPr>
              <a:t> RequestMetrics (AtomicLong + ConcurrentHashMap) across 1 M events, and Match.dirty — the shape the paper itself names as a false-positive source.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2697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Where the run spent its time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3090672"/>
            <a:ext cx="4983480" cy="2926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47688" y="3140964"/>
            <a:ext cx="154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Module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42071" y="3140964"/>
            <a:ext cx="90022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8602" y="3140964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Tests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6124" y="3140964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Failed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3646" y="3140964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Pairs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47688" y="3433572"/>
            <a:ext cx="154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cricket-live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42071" y="3433572"/>
            <a:ext cx="90022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40 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88602" y="3433572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6124" y="3433572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3646" y="3433572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27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3675887"/>
            <a:ext cx="4983480" cy="2926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47688" y="3726179"/>
            <a:ext cx="154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cricket-stats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42071" y="3726179"/>
            <a:ext cx="90022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 h 46 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88602" y="3726179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6124" y="3726179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3646" y="3726179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47688" y="4018787"/>
            <a:ext cx="154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cricket-api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42071" y="4018787"/>
            <a:ext cx="90022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4 h 58 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88602" y="4018787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36124" y="4018787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83646" y="4018787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37960" y="4261104"/>
            <a:ext cx="4983480" cy="2926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47688" y="4311396"/>
            <a:ext cx="154807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2B"/>
                </a:solidFill>
                <a:latin typeface="Segoe UI"/>
              </a:rPr>
              <a:t>Total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42071" y="4311396"/>
            <a:ext cx="90022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2B"/>
                </a:solidFill>
                <a:latin typeface="Segoe UI"/>
              </a:rPr>
              <a:t>7 h 24 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88602" y="4311396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2B"/>
                </a:solidFill>
                <a:latin typeface="Segoe UI"/>
              </a:rPr>
              <a:t>29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36124" y="4311396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2B"/>
                </a:solidFill>
                <a:latin typeface="Segoe UI"/>
              </a:rPr>
              <a:t>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83646" y="4311396"/>
            <a:ext cx="60121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2B"/>
                </a:solidFill>
                <a:latin typeface="Segoe UI"/>
              </a:rPr>
              <a:t>27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4617720"/>
            <a:ext cx="4983480" cy="1280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37960" y="4617720"/>
            <a:ext cx="41148" cy="1280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57416" y="4736592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cricket-live yields 100% of the findings in 9% of the runtime.</a:t>
            </a:r>
            <a:r>
              <a:rPr sz="1250" b="1">
                <a:solidFill>
                  <a:srgbClr val="1F3A5F"/>
                </a:solidFill>
                <a:latin typeface="Segoe UI"/>
              </a:rPr>
              <a:t> Cost tracks tracked accesses, not test count — a 500× spread per test, and cricket-api's 4 tests cost more than the other 25 combined.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artifacts/TSVD4J/TSVD4J_RESULTS.md §1–§3, §7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SECTION 3 — TSVD4J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Where the 27 findings landed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212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53412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Category in the reduced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4292" y="2153412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950" y="2153412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27732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concurrency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292" y="2427732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0950" y="2427732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F2B"/>
                </a:solidFill>
                <a:latin typeface="Segoe UI"/>
              </a:rPr>
              <a:t>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51759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702051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async wait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4292" y="270205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950" y="270205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976371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unordered collections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292" y="297637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950" y="297637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00399"/>
            <a:ext cx="5212080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250691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non-flaky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4292" y="325069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0950" y="325069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525011"/>
            <a:ext cx="27724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unlabelled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4292" y="352501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0950" y="3525011"/>
            <a:ext cx="10003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2B"/>
                </a:solidFill>
                <a:latin typeface="Segoe U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840480"/>
            <a:ext cx="5212080" cy="1417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840480"/>
            <a:ext cx="41148" cy="1417320"/>
          </a:xfrm>
          <a:prstGeom prst="rect">
            <a:avLst/>
          </a:prstGeom>
          <a:solidFill>
            <a:srgbClr val="1E7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3959352"/>
            <a:ext cx="4800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A1F2B"/>
                </a:solidFill>
                <a:latin typeface="Segoe UI"/>
              </a:rPr>
              <a:t>Category discrimination is the strongest result.</a:t>
            </a:r>
            <a:r>
              <a:rPr sz="1250" b="1">
                <a:solidFill>
                  <a:srgbClr val="1E7F53"/>
                </a:solidFill>
                <a:latin typeface="Segoe UI"/>
              </a:rPr>
              <a:t> All 27 pairs trace to the 7 concurrency tests, and none to the async, unordered-collection or control tests — despite 13 of those failing during the run. It does not merely find races; it declines to attribute non-race flakiness to races.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16916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Observations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1031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F3A5F"/>
                </a:solidFill>
                <a:latin typeface="Segoe UI"/>
              </a:rPr>
              <a:t>It beat rerunning on one test.</a:t>
            </a:r>
            <a:r>
              <a:rPr sz="1250" b="0">
                <a:solidFill>
                  <a:srgbClr val="1A1F2B"/>
                </a:solidFill>
                <a:latin typeface="Segoe UI"/>
              </a:rPr>
              <a:t>  theBatterIsCreditedWithEveryRun fails 0/50 in isolation; under delay injection it failed and produced 23 of the 27 pairs.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F3A5F"/>
                </a:solidFill>
                <a:latin typeface="Segoe UI"/>
              </a:rPr>
              <a:t>Overhead breaks the controls.</a:t>
            </a:r>
            <a:r>
              <a:rPr sz="1250" b="0">
                <a:solidFill>
                  <a:srgbClr val="1A1F2B"/>
                </a:solidFill>
                <a:latin typeface="Segoe UI"/>
              </a:rPr>
              <a:t>  5 of 6 non-flaky controls failed, every one on an awaitIdle timeout rather than a substantive assertion. Artifacts, not regressions.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F3A5F"/>
                </a:solidFill>
                <a:latin typeface="Segoe UI"/>
              </a:rPr>
              <a:t>Failure counts carry no rate signal.</a:t>
            </a:r>
            <a:r>
              <a:rPr sz="1250" b="0">
                <a:solidFill>
                  <a:srgbClr val="1A1F2B"/>
                </a:solidFill>
                <a:latin typeface="Segoe UI"/>
              </a:rPr>
              <a:t>  a 0/50 test and a 43/50 test both report expected 120 but was 4 — these must not be fed back into the labels file.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F3A5F"/>
                </a:solidFill>
                <a:latin typeface="Segoe UI"/>
              </a:rPr>
              <a:t>Score the aggregate, not the per-test files.</a:t>
            </a:r>
            <a:r>
              <a:rPr sz="1250" b="0">
                <a:solidFill>
                  <a:srgbClr val="1A1F2B"/>
                </a:solidFill>
                <a:latin typeface="Segoe UI"/>
              </a:rPr>
              <a:t>  two tests got no per-test file at all; per-test recall would read 4/6 instead of the true 6/6.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F3A5F"/>
                </a:solidFill>
                <a:latin typeface="Segoe UI"/>
              </a:rPr>
              <a:t>One unrecorded finding.</a:t>
            </a:r>
            <a:r>
              <a:rPr sz="1250" b="0">
                <a:solidFill>
                  <a:srgbClr val="1A1F2B"/>
                </a:solidFill>
                <a:latin typeface="Segoe UI"/>
              </a:rPr>
              <a:t>  ScoringRules|30:92 is not in ground truth and may warrant a labels update.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artifacts/TSVD4J/TSVD4J_RESULTS.md §4–§6, §8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3A5F"/>
                </a:solidFill>
                <a:latin typeface="Segoe U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F2B"/>
                </a:solidFill>
                <a:latin typeface="Segoe UI"/>
              </a:rPr>
              <a:t>Three artifacts, three different verdicts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20095" cy="18288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10820095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33372"/>
            <a:ext cx="104390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5738" y="1833372"/>
            <a:ext cx="93570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7747" y="1833372"/>
            <a:ext cx="2666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Against ground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0972" y="1833372"/>
            <a:ext cx="558834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observation that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62556"/>
            <a:ext cx="1043906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FlakyLens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5738" y="2162556"/>
            <a:ext cx="935705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19 min /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7747" y="2162556"/>
            <a:ext cx="266692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0.03 or 0.88, depending on whitespace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0972" y="2162556"/>
            <a:ext cx="5588346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Decides flaky vs non-flaky on source formatting, not on code. Tokens, not behaviour, pick the category.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752344"/>
            <a:ext cx="10820095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2636"/>
            <a:ext cx="1043906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FlakeSync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5738" y="2802636"/>
            <a:ext cx="935705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8 m 18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7747" y="2802636"/>
            <a:ext cx="266692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repaired; barrier exact, critical point coarser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0972" y="2802636"/>
            <a:ext cx="5588346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The emitted patch deadlocked. Review before applying — one integer separated repair from hang.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442716"/>
            <a:ext cx="1043906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TSVD4J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5738" y="3442716"/>
            <a:ext cx="935705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7 h 24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7747" y="3442716"/>
            <a:ext cx="266692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6/6 pairs, 0 false positives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0972" y="3442716"/>
            <a:ext cx="5588346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2B"/>
                </a:solidFill>
                <a:latin typeface="Segoe UI"/>
              </a:rPr>
              <a:t>Declines to attribute non-race flakiness to races — even when the test is failing in front of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2452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Cross-cutting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360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The two dynamic artifacts held up; the learned one did not.</a:t>
            </a:r>
            <a:r>
              <a:rPr sz="1300" b="0">
                <a:solidFill>
                  <a:srgbClr val="1A1F2B"/>
                </a:solidFill>
                <a:latin typeface="Segoe UI"/>
              </a:rPr>
              <a:t>  TSVD4J and FlakeSync both found what the labels file said they should. FlakyLens' headline number is one byte from collapsing.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Instrumentation overhead is not a result.</a:t>
            </a:r>
            <a:r>
              <a:rPr sz="1300" b="0">
                <a:solidFill>
                  <a:srgbClr val="1A1F2B"/>
                </a:solidFill>
                <a:latin typeface="Segoe UI"/>
              </a:rPr>
              <a:t>  5 controls failed under TSVD4J on timeout guards alone — discount those, and score the aggregate output, not the per-test files.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Every artifact needed a port.</a:t>
            </a:r>
            <a:r>
              <a:rPr sz="1300" b="0">
                <a:solidFill>
                  <a:srgbClr val="1A1F2B"/>
                </a:solidFill>
                <a:latin typeface="Segoe UI"/>
              </a:rPr>
              <a:t>  prefix resolution, CRLF line endings, hardcoded CUDA — none of it in the papers, all of it in the runbooks.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825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All three runbooks and result files live under cricket-tracker/artifacts/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